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FFFFFF"/>
                </a:solidFill>
                <a:latin typeface="Noto Sans HK"/>
              </a:rPr>
              <a:t>反直覺公關心機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11D48"/>
                </a:solidFill>
                <a:latin typeface="Montserrat"/>
              </a:rPr>
              <a:t>Unintuitive PR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>
                <a:solidFill>
                  <a:srgbClr val="94A3B8"/>
                </a:solidFill>
                <a:latin typeface="Noto Sans HK"/>
              </a:rPr>
              <a:t>破除迷思，化不可能為爆點。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00:00-00:15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8895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0" b="1">
                <a:solidFill>
                  <a:srgbClr val="E11D48"/>
                </a:solidFill>
                <a:latin typeface="Noto Sans HK"/>
              </a:rPr>
              <a:t>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575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>
                <a:solidFill>
                  <a:srgbClr val="0F172A"/>
                </a:solidFill>
                <a:latin typeface="Noto Sans HK"/>
              </a:rPr>
              <a:t>展覽一件貨都冇，</a:t>
            </a:r>
          </a:p>
          <a:p>
            <a:pPr algn="ctr">
              <a:lnSpc>
                <a:spcPct val="105000"/>
              </a:lnSpc>
            </a:pPr>
            <a:r>
              <a:rPr sz="5400" b="1">
                <a:solidFill>
                  <a:srgbClr val="0F172A"/>
                </a:solidFill>
                <a:latin typeface="Noto Sans HK"/>
              </a:rPr>
              <a:t>會有人來嗎？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94457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94A3B8"/>
                </a:solidFill>
                <a:latin typeface="Noto Sans HK"/>
              </a:rPr>
              <a:t>快問快答：挑戰傳統促銷迷思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00:15-00:30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E11D48"/>
                </a:solidFill>
                <a:latin typeface="Montserrat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62179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0F172A"/>
                </a:solidFill>
                <a:latin typeface="Noto Sans HK"/>
              </a:rPr>
              <a:t>Firebean 團隊</a:t>
            </a:r>
          </a:p>
          <a:p>
            <a:pPr algn="l">
              <a:lnSpc>
                <a:spcPct val="105000"/>
              </a:lnSpc>
            </a:pPr>
            <a:r>
              <a:rPr sz="4600" b="1">
                <a:solidFill>
                  <a:srgbClr val="0F172A"/>
                </a:solidFill>
                <a:latin typeface="Noto Sans HK"/>
              </a:rPr>
              <a:t>公關拆彈專家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Noto Sans HK"/>
              </a:rPr>
              <a:t>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9184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HK"/>
              </a:rPr>
              <a:t>突破傳統營銷框架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79476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4A3B8"/>
                </a:solidFill>
                <a:latin typeface="Noto Sans HK"/>
              </a:rPr>
              <a:t>Breaking Conventions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Noto Sans HK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34340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HK"/>
              </a:rPr>
              <a:t>極速臨場應變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484632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4A3B8"/>
                </a:solidFill>
                <a:latin typeface="Noto Sans HK"/>
              </a:rPr>
              <a:t>Lightning Tactical Agility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Noto Sans HK"/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39496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HK"/>
              </a:rPr>
              <a:t>精準洞察人性心理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89788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94A3B8"/>
                </a:solidFill>
                <a:latin typeface="Noto Sans HK"/>
              </a:rPr>
              <a:t>Deep Human Psychology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097280"/>
            <a:ext cx="4480560" cy="4663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377440"/>
            <a:ext cx="44805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0" b="1">
                <a:solidFill>
                  <a:srgbClr val="FFFFFF"/>
                </a:solidFill>
                <a:latin typeface="Noto Sans HK"/>
              </a:rPr>
              <a:t>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00:30-01:00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E11D48"/>
                </a:solidFill>
                <a:latin typeface="Montserrat"/>
              </a:rPr>
              <a:t>CASE STUDY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4572000" cy="46634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005840"/>
            <a:ext cx="6126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Noto Sans HK"/>
              </a:rPr>
              <a:t>華人藥業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Noto Sans HK"/>
              </a:rPr>
              <a:t>中秋品牌體驗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3108960"/>
            <a:ext cx="6126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59E0B"/>
                </a:solidFill>
                <a:latin typeface="Noto Sans HK"/>
              </a:rPr>
              <a:t>核心策略：大品牌包裝策略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931920"/>
            <a:ext cx="6126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Noto Sans HK"/>
              </a:rPr>
              <a:t>· 捨棄單一成人奶粉推銷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6126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Noto Sans HK"/>
              </a:rPr>
              <a:t>· 「中式茶樓策略」觸及萬寧廣大客群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5669279"/>
            <a:ext cx="6126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E11D48"/>
                </a:solidFill>
                <a:latin typeface="Noto Sans HK"/>
              </a:rPr>
              <a:t>· 活動現場零銷售，全做體驗！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01:00-01:30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8895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Noto Sans HK"/>
              </a:rPr>
              <a:t>零銷售：三大心機佈局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34747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Noto Sans HK"/>
              </a:rPr>
              <a:t>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Noto Sans HK"/>
              </a:rPr>
              <a:t>No 保齡球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3474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94A3B8"/>
                </a:solidFill>
                <a:latin typeface="Noto Sans HK"/>
              </a:rPr>
              <a:t>彎腰活動 → 放大關節退化痛點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194560"/>
            <a:ext cx="34747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237744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Noto Sans HK"/>
              </a:rPr>
              <a:t>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56616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Noto Sans HK"/>
              </a:rPr>
              <a:t>靈芝培植場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297680"/>
            <a:ext cx="3474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94A3B8"/>
                </a:solidFill>
                <a:latin typeface="Noto Sans HK"/>
              </a:rPr>
              <a:t>虎乳芝功效視覺化 → 拋圈圈打卡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2194560"/>
            <a:ext cx="3474720" cy="3291840"/>
          </a:xfrm>
          <a:prstGeom prst="rect">
            <a:avLst/>
          </a:prstGeom>
          <a:solidFill>
            <a:srgbClr val="1E293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37744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Noto Sans HK"/>
              </a:rP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56616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59E0B"/>
                </a:solidFill>
                <a:latin typeface="Noto Sans HK"/>
              </a:rPr>
              <a:t>中秋猜燈謎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4297680"/>
            <a:ext cx="3474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94A3B8"/>
                </a:solidFill>
                <a:latin typeface="Noto Sans HK"/>
              </a:rPr>
              <a:t>精準攻陷 50+ 長者「好勝」心理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01:30-02:00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8895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E11D48"/>
                </a:solidFill>
                <a:latin typeface="Montserrat"/>
              </a:rPr>
              <a:t>🔥 15 秒現場互動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5912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Noto Sans HK"/>
              </a:rPr>
              <a:t>左邊綠，右邊紅；</a:t>
            </a:r>
          </a:p>
          <a:p>
            <a:pPr algn="ctr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Noto Sans HK"/>
              </a:rPr>
              <a:t>左邊怕蟲，右邊怕水。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12080"/>
            <a:ext cx="107259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64748B"/>
                </a:solidFill>
                <a:latin typeface="Noto Sans HK"/>
              </a:rPr>
              <a:t>— 猜一個常見字？—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02:00-02:25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05840"/>
            <a:ext cx="12188952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0" b="1">
                <a:solidFill>
                  <a:srgbClr val="FF2D55"/>
                </a:solidFill>
                <a:latin typeface="Noto Sans HK"/>
              </a:rPr>
              <a:t>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0"/>
            <a:ext cx="107259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Noto Sans HK"/>
              </a:rPr>
              <a:t>禾（綠色怕蟲）＋ 火（紅色怕水）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72591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59E0B"/>
                </a:solidFill>
                <a:latin typeface="Noto Sans HK"/>
              </a:rPr>
              <a:t>💡 這就是人性！引爆無可抗拒的羊群心理。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02:25-02:45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E11D48"/>
                </a:solidFill>
                <a:latin typeface="Montserrat"/>
              </a:rPr>
              <a:t>零銷售展覽 · 驚人戰果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280160"/>
            <a:ext cx="12188952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0" b="1">
                <a:solidFill>
                  <a:srgbClr val="E11D48"/>
                </a:solidFill>
                <a:latin typeface="Montserrat"/>
              </a:rPr>
              <a:t>1,500+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846320"/>
            <a:ext cx="121889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>
                <a:solidFill>
                  <a:srgbClr val="0F172A"/>
                </a:solidFill>
                <a:latin typeface="Noto Sans HK"/>
              </a:rPr>
              <a:t>單日新增全新會員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669280"/>
            <a:ext cx="1218895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HK"/>
              </a:rPr>
              <a:t>🔥 附近兩間萬寧貨架 直接賣斷市！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02:45-03:15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188720"/>
            <a:ext cx="121889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0" b="1">
                <a:solidFill>
                  <a:srgbClr val="F59E0B"/>
                </a:solidFill>
                <a:latin typeface="Noto Sans HK"/>
              </a:rPr>
              <a:t>⚠️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Noto Sans HK"/>
              </a:rPr>
              <a:t>冇相、冇資料，</a:t>
            </a:r>
          </a:p>
          <a:p>
            <a:pPr algn="ctr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Noto Sans HK"/>
              </a:rPr>
              <a:t>後日點見報？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7259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94A3B8"/>
                </a:solidFill>
                <a:latin typeface="Noto Sans HK"/>
              </a:rPr>
              <a:t>公關極限挑戰：零官方資源拆彈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03:15-03:30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E11D48"/>
                </a:solidFill>
                <a:latin typeface="Montserrat"/>
              </a:rPr>
              <a:t>CASE STUDY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943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Noto Sans HK"/>
              </a:rPr>
              <a:t>日本咖啡品牌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Noto Sans HK"/>
              </a:rPr>
              <a:t>傳媒極速發佈會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11D48"/>
                </a:solidFill>
                <a:latin typeface="Noto Sans HK"/>
              </a:rPr>
              <a:t>❌ 資源極度匱乏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5943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94A3B8"/>
                </a:solidFill>
                <a:latin typeface="Noto Sans HK"/>
              </a:rPr>
              <a:t>零官方圖片與背景稿件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11D48"/>
                </a:solidFill>
                <a:latin typeface="Noto Sans HK"/>
              </a:rPr>
              <a:t>⏰ 時間極度緊迫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943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94A3B8"/>
                </a:solidFill>
                <a:latin typeface="Noto Sans HK"/>
              </a:rPr>
              <a:t>倒數 48 小時必須見報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59E0B"/>
                </a:solidFill>
                <a:latin typeface="Noto Sans HK"/>
              </a:rPr>
              <a:t>✅ 主動出擊拆彈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5943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94A3B8"/>
                </a:solidFill>
                <a:latin typeface="Noto Sans HK"/>
              </a:rPr>
              <a:t>跨海自挖日本官網深層情報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097280"/>
            <a:ext cx="4846320" cy="46634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60320"/>
            <a:ext cx="48463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0" b="1">
                <a:solidFill>
                  <a:srgbClr val="FFFFFF"/>
                </a:solidFill>
                <a:latin typeface="Noto Sans HK"/>
              </a:rPr>
              <a:t>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03:30-03:50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1218895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0F172A"/>
                </a:solidFill>
                <a:latin typeface="Noto Sans HK"/>
              </a:rPr>
              <a:t>扭轉劣勢：顏值公關法則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103120"/>
            <a:ext cx="347472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Noto Sans HK"/>
              </a:rPr>
              <a:t>👁️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HK"/>
              </a:rPr>
              <a:t>發掘隱藏賣點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3474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94A3B8"/>
                </a:solidFill>
                <a:latin typeface="Noto Sans HK"/>
              </a:rPr>
              <a:t>鎖定極高顏值的日本咖啡師群體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103120"/>
            <a:ext cx="347472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228600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Noto Sans HK"/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47472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HK"/>
              </a:rPr>
              <a:t>傳媒專屬話題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206240"/>
            <a:ext cx="3474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94A3B8"/>
                </a:solidFill>
                <a:latin typeface="Noto Sans HK"/>
              </a:rPr>
              <a:t>以型男索女為題，秒殺採訪意願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2103120"/>
            <a:ext cx="3474720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28600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Noto Sans HK"/>
              </a:rPr>
              <a:t>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47472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HK"/>
              </a:rPr>
              <a:t>親自上陣接待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4206240"/>
            <a:ext cx="3474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94A3B8"/>
                </a:solidFill>
                <a:latin typeface="Noto Sans HK"/>
              </a:rPr>
              <a:t>拒絕冷冰冰派稿，親自接待引導記者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03:50-04:15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8400" b="1">
                <a:solidFill>
                  <a:srgbClr val="0F172A"/>
                </a:solidFill>
                <a:latin typeface="Noto Sans HK"/>
              </a:rPr>
              <a:t>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Noto Sans HK"/>
              </a:rPr>
              <a:t>贏得終極信任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889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94A3B8"/>
                </a:solidFill>
                <a:latin typeface="Noto Sans HK"/>
              </a:rPr>
              <a:t>展現超越原廠的產品理解力與執行力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4572000"/>
            <a:ext cx="5943600" cy="1188720"/>
          </a:xfrm>
          <a:prstGeom prst="rect">
            <a:avLst/>
          </a:prstGeom>
          <a:solidFill>
            <a:srgbClr val="0F172A"/>
          </a:solidFill>
          <a:ln w="381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4709160"/>
            <a:ext cx="5943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Noto Sans HK"/>
              </a:rPr>
              <a:t>🏆 全盤贏得客戶緊接之 SOGO 大型公關項目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04:15-04:35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889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400" b="1">
                <a:solidFill>
                  <a:srgbClr val="E11D48"/>
                </a:solidFill>
                <a:latin typeface="Montserrat"/>
              </a:rP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591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Noto Sans HK"/>
              </a:rPr>
              <a:t>新聞稿人人會寫。</a:t>
            </a:r>
          </a:p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Noto Sans HK"/>
              </a:rPr>
              <a:t>化危機為商機，全靠臨場應變</a:t>
            </a:r>
          </a:p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Noto Sans HK"/>
              </a:rPr>
              <a:t>與個人魅力。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72591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0">
                <a:solidFill>
                  <a:srgbClr val="94A3B8"/>
                </a:solidFill>
                <a:latin typeface="Noto Sans HK"/>
              </a:rPr>
              <a:t>準備好為你的品牌打造下一個爆點了嗎？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77840"/>
            <a:ext cx="107259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Noto Sans HK"/>
              </a:rPr>
              <a:t>聯絡 Firebean 團隊 ｜ 主講人 Dickson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Firebean ｜ 反直覺公關心機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00800"/>
            <a:ext cx="4389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Montserrat"/>
              </a:rPr>
              <a:t>04:35-05:00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